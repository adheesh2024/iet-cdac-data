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6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55448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JVM Architecture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How the Java Virtual Machine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From .java source → bytecode →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JVM Architecture | Java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6"/>
                </a:solidFill>
              </a:defRPr>
            </a:pPr>
            <a:r>
              <a:t>What is the JVM?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t>The runtime engine that executes Java bytecode.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rPr sz="3200" b="1" dirty="0"/>
              <a:t>JVM stands for Java Virtual Machine.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rPr sz="3200" b="1" dirty="0"/>
              <a:t>It provides the environment in which Java bytecode runs.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rPr sz="3200" b="1" dirty="0"/>
              <a:t>Java source code is compiled by </a:t>
            </a:r>
            <a:r>
              <a:rPr sz="3200" b="1" dirty="0" err="1"/>
              <a:t>javac</a:t>
            </a:r>
            <a:r>
              <a:rPr sz="3200" b="1" dirty="0"/>
              <a:t> into platform-independent .class bytecode.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rPr sz="3200" b="1" dirty="0"/>
              <a:t>The JVM loads, verifies, links and executes that bytecode.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rPr sz="3200" b="1" dirty="0"/>
              <a:t>This abstraction supports Java’s “Write Once, Run Anywhere”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JVM Architecture | Java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6"/>
                </a:solidFill>
              </a:defRPr>
            </a:pPr>
            <a:r>
              <a:t>How Java Code Reaches the Machine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t>The JVM sits between bytecode and the underlying operating system.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286000"/>
            <a:ext cx="2286000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2646"/>
                </a:solidFill>
              </a:defRPr>
            </a:pPr>
            <a:r>
              <a:t>Java Source</a:t>
            </a:r>
            <a:br/>
            <a:r>
              <a:t>.java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2286000"/>
            <a:ext cx="2286000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2646"/>
                </a:solidFill>
              </a:defRPr>
            </a:pPr>
            <a:r>
              <a:t>javac</a:t>
            </a:r>
            <a:br/>
            <a:r>
              <a:t>Compiler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2286000"/>
            <a:ext cx="2286000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2646"/>
                </a:solidFill>
              </a:defRPr>
            </a:pPr>
            <a:r>
              <a:t>Bytecode</a:t>
            </a:r>
            <a:br/>
            <a:r>
              <a:t>.class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2286000"/>
            <a:ext cx="2286000" cy="914400"/>
          </a:xfrm>
          <a:prstGeom prst="roundRect">
            <a:avLst/>
          </a:prstGeom>
          <a:solidFill>
            <a:srgbClr val="EFF5FC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2646"/>
                </a:solidFill>
              </a:defRPr>
            </a:pPr>
            <a:r>
              <a:t>JVM</a:t>
            </a:r>
            <a:br/>
            <a:r>
              <a:t>Execution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743200"/>
            <a:ext cx="457200" cy="0"/>
          </a:xfrm>
          <a:prstGeom prst="line">
            <a:avLst/>
          </a:prstGeom>
          <a:ln w="25400">
            <a:solidFill>
              <a:srgbClr val="2D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77840" y="2743200"/>
            <a:ext cx="457200" cy="0"/>
          </a:xfrm>
          <a:prstGeom prst="line">
            <a:avLst/>
          </a:prstGeom>
          <a:ln w="25400">
            <a:solidFill>
              <a:srgbClr val="2D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21040" y="2743200"/>
            <a:ext cx="457200" cy="0"/>
          </a:xfrm>
          <a:prstGeom prst="line">
            <a:avLst/>
          </a:prstGeom>
          <a:ln w="25400">
            <a:solidFill>
              <a:srgbClr val="2D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4114800"/>
            <a:ext cx="10241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</a:defRPr>
            </a:pPr>
            <a:r>
              <a:t>Interpretation and JIT compilation can turn bytecode into native machine instructions.</a:t>
            </a:r>
          </a:p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</a:defRPr>
            </a:pPr>
            <a:r>
              <a:t>Garbage collection reclaims memory from objects that are no longer referenced.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JVM Architecture | Java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6"/>
                </a:solidFill>
              </a:defRPr>
            </a:pPr>
            <a:r>
              <a:t>JVM Architecture — Big Picture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389120" y="1234440"/>
            <a:ext cx="3383280" cy="685800"/>
          </a:xfrm>
          <a:prstGeom prst="roundRect">
            <a:avLst/>
          </a:prstGeom>
          <a:solidFill>
            <a:srgbClr val="EFF5FC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2646"/>
                </a:solidFill>
              </a:defRPr>
            </a:pPr>
            <a:r>
              <a:t>Class Loader Subsystem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423160"/>
            <a:ext cx="2743200" cy="1828800"/>
          </a:xfrm>
          <a:prstGeom prst="roundRect">
            <a:avLst/>
          </a:prstGeom>
          <a:solidFill>
            <a:srgbClr val="EFF5FC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646"/>
                </a:solidFill>
              </a:defRPr>
            </a:pPr>
            <a:r>
              <a:t>Runtime Data Areas</a:t>
            </a:r>
            <a:br/>
            <a:r>
              <a:t/>
            </a:r>
            <a:br/>
            <a:r>
              <a:t>Method Area / Metaspace</a:t>
            </a:r>
            <a:br/>
            <a:r>
              <a:t>Heap</a:t>
            </a:r>
            <a:br/>
            <a:r>
              <a:t>JVM Stacks</a:t>
            </a:r>
            <a:br/>
            <a:r>
              <a:t>PC Registers</a:t>
            </a:r>
            <a:br/>
            <a:r>
              <a:t>Native Method Stacks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2423160"/>
            <a:ext cx="2743200" cy="1828800"/>
          </a:xfrm>
          <a:prstGeom prst="roundRect">
            <a:avLst/>
          </a:prstGeom>
          <a:solidFill>
            <a:srgbClr val="EFF5FC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646"/>
                </a:solidFill>
              </a:defRPr>
            </a:pPr>
            <a:r>
              <a:t>Execution Engine</a:t>
            </a:r>
            <a:br/>
            <a:r>
              <a:t/>
            </a:r>
            <a:br/>
            <a:r>
              <a:t>Interpreter</a:t>
            </a:r>
            <a:br/>
            <a:r>
              <a:t>JIT Compiler</a:t>
            </a:r>
            <a:br/>
            <a:r>
              <a:t>Garbage Collector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2423160"/>
            <a:ext cx="2560320" cy="1828800"/>
          </a:xfrm>
          <a:prstGeom prst="roundRect">
            <a:avLst/>
          </a:prstGeom>
          <a:solidFill>
            <a:srgbClr val="EFF5FC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646"/>
                </a:solidFill>
              </a:defRPr>
            </a:pPr>
            <a:r>
              <a:t>JNI</a:t>
            </a:r>
            <a:br/>
            <a:r>
              <a:t/>
            </a:r>
            <a:br/>
            <a:r>
              <a:t>Native Method</a:t>
            </a:r>
            <a:br/>
            <a:r>
              <a:t>Libraries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754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</a:defRPr>
            </a:pPr>
            <a:r>
              <a:t>These components cooperate to load classes, manage runtime memory, execute bytecode and interact with native libraries.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JVM Architecture | Java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6"/>
                </a:solidFill>
              </a:defRPr>
            </a:pPr>
            <a:r>
              <a:t>1. Class Loader Subsystem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t>Loading, linking and initialization prepare classes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Loading: reads .class files and creates class metadata in the runtime.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Linking: verification checks bytecode rules; preparation allocates static storage; resolution connects symbolic references.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Initialization: assigns actual static values and executes static blocks.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t>Common loader categories include Bootstrap and Application/System class loaders.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JVM Architecture | Java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6"/>
                </a:solidFill>
              </a:defRPr>
            </a:pPr>
            <a:r>
              <a:t>2. JVM Runtime Data Areas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t>Memory is organized into areas with different responsibilities.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011680" cy="1828800"/>
          </a:xfrm>
          <a:prstGeom prst="roundRect">
            <a:avLst/>
          </a:prstGeom>
          <a:solidFill>
            <a:srgbClr val="EFF5FC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646"/>
                </a:solidFill>
              </a:defRPr>
            </a:pPr>
            <a:r>
              <a:t>Method Area /</a:t>
            </a:r>
            <a:br/>
            <a:r>
              <a:t>Metaspace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2011680"/>
            <a:ext cx="2011680" cy="1828800"/>
          </a:xfrm>
          <a:prstGeom prst="roundRect">
            <a:avLst/>
          </a:prstGeom>
          <a:solidFill>
            <a:srgbClr val="EFF5FC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646"/>
                </a:solidFill>
              </a:defRPr>
            </a:pPr>
            <a:r>
              <a:t>Heap</a:t>
            </a:r>
            <a:br/>
            <a:r>
              <a:t>Objects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2011680"/>
            <a:ext cx="2011680" cy="1828800"/>
          </a:xfrm>
          <a:prstGeom prst="roundRect">
            <a:avLst/>
          </a:prstGeom>
          <a:solidFill>
            <a:srgbClr val="EFF5FC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646"/>
                </a:solidFill>
              </a:defRPr>
            </a:pPr>
            <a:r>
              <a:t>JVM Stack</a:t>
            </a:r>
            <a:br/>
            <a:r>
              <a:t>Per thread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011680"/>
            <a:ext cx="2011680" cy="1828800"/>
          </a:xfrm>
          <a:prstGeom prst="roundRect">
            <a:avLst/>
          </a:prstGeom>
          <a:solidFill>
            <a:srgbClr val="EFF5FC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646"/>
                </a:solidFill>
              </a:defRPr>
            </a:pPr>
            <a:r>
              <a:t>PC Register</a:t>
            </a:r>
            <a:br/>
            <a:r>
              <a:t>Per thread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2011680"/>
            <a:ext cx="2011680" cy="1828800"/>
          </a:xfrm>
          <a:prstGeom prst="roundRect">
            <a:avLst/>
          </a:prstGeom>
          <a:solidFill>
            <a:srgbClr val="EFF5FC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646"/>
                </a:solidFill>
              </a:defRPr>
            </a:pPr>
            <a:r>
              <a:t>Native Method</a:t>
            </a:r>
            <a:br/>
            <a:r>
              <a:t>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</a:defRPr>
            </a:pPr>
            <a:r>
              <a:t>Heap and method/class metadata are shared across threads; each thread has its own JVM stack and PC register.</a:t>
            </a:r>
          </a:p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</a:defRPr>
            </a:pPr>
            <a:r>
              <a:t>Unused heap objects can later be reclaimed by the garbage collector.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JVM Architecture | Java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6"/>
                </a:solidFill>
              </a:defRPr>
            </a:pPr>
            <a:r>
              <a:t>3. Execution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t>The execution engine runs the bytecode assigned to runtime data areas.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2926080" cy="1463040"/>
          </a:xfrm>
          <a:prstGeom prst="roundRect">
            <a:avLst/>
          </a:prstGeom>
          <a:solidFill>
            <a:srgbClr val="EFF5FC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2646"/>
                </a:solidFill>
              </a:defRPr>
            </a:pPr>
            <a:r>
              <a:t>Interpreter</a:t>
            </a:r>
            <a:br/>
            <a:r>
              <a:t>Executes bytecode</a:t>
            </a:r>
            <a:br/>
            <a:r>
              <a:t>instruction by instruction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828800"/>
            <a:ext cx="2926080" cy="1463040"/>
          </a:xfrm>
          <a:prstGeom prst="roundRect">
            <a:avLst/>
          </a:prstGeom>
          <a:solidFill>
            <a:srgbClr val="EFF5FC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2646"/>
                </a:solidFill>
              </a:defRPr>
            </a:pPr>
            <a:r>
              <a:t>JIT Compiler</a:t>
            </a:r>
            <a:br/>
            <a:r>
              <a:t>Compiles frequently used</a:t>
            </a:r>
            <a:br/>
            <a:r>
              <a:t>code to native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828800"/>
            <a:ext cx="2926080" cy="1463040"/>
          </a:xfrm>
          <a:prstGeom prst="roundRect">
            <a:avLst/>
          </a:prstGeom>
          <a:solidFill>
            <a:srgbClr val="EFF5FC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2646"/>
                </a:solidFill>
              </a:defRPr>
            </a:pPr>
            <a:r>
              <a:t>Garbage Collector</a:t>
            </a:r>
            <a:br/>
            <a:r>
              <a:t>Reclaims unused</a:t>
            </a:r>
            <a:br/>
            <a:r>
              <a:t>objects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</a:defRPr>
            </a:pPr>
            <a:r>
              <a:t>Interpreter gives fast startup and straightforward execution.</a:t>
            </a:r>
          </a:p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</a:defRPr>
            </a:pPr>
            <a:r>
              <a:t>JIT improves performance by optimizing frequently executed (“hot”) code.</a:t>
            </a:r>
          </a:p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</a:defRPr>
            </a:pPr>
            <a:r>
              <a:t>Garbage collection automates memory reclamation.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JVM Architecture | Java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6"/>
                </a:solidFill>
              </a:defRPr>
            </a:pPr>
            <a:r>
              <a:t>4. Java Native Interface (JNI)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t>JNI connects Java code with platform-specific native code.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t>JNI provides an interface between the JVM and native libraries.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t>Native methods can be implemented in languages such as C or C++.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t>This enables Java applications to access platform-specific functionality.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t>Native Method Libraries provide the native implementations required by such calls.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JVM Architecture | Java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6"/>
                </a:solidFill>
              </a:defRPr>
            </a:pPr>
            <a:r>
              <a:t>JVM Execution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t>A simplified end-to-end view.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2057400"/>
            <a:ext cx="1325880" cy="1325880"/>
          </a:xfrm>
          <a:prstGeom prst="roundRect">
            <a:avLst/>
          </a:prstGeom>
          <a:solidFill>
            <a:srgbClr val="EFF5FC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646"/>
                </a:solidFill>
              </a:defRPr>
            </a:pPr>
            <a:r>
              <a:t>1</a:t>
            </a:r>
            <a:br/>
            <a:r>
              <a:t>Write</a:t>
            </a:r>
            <a:br/>
            <a:r>
              <a:t>.java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4248" y="2057400"/>
            <a:ext cx="1325880" cy="1325880"/>
          </a:xfrm>
          <a:prstGeom prst="roundRect">
            <a:avLst/>
          </a:prstGeom>
          <a:solidFill>
            <a:srgbClr val="EFF5FC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646"/>
                </a:solidFill>
              </a:defRPr>
            </a:pPr>
            <a:r>
              <a:t>2</a:t>
            </a:r>
            <a:br/>
            <a:r>
              <a:t>Compile</a:t>
            </a:r>
            <a:br/>
            <a:r>
              <a:t>javac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48456" y="2057400"/>
            <a:ext cx="1325880" cy="1325880"/>
          </a:xfrm>
          <a:prstGeom prst="roundRect">
            <a:avLst/>
          </a:prstGeom>
          <a:solidFill>
            <a:srgbClr val="EFF5FC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646"/>
                </a:solidFill>
              </a:defRPr>
            </a:pPr>
            <a:r>
              <a:t>3</a:t>
            </a:r>
            <a:br/>
            <a:r>
              <a:t>Load</a:t>
            </a:r>
            <a:br/>
            <a:r>
              <a:t>.class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12664" y="2057400"/>
            <a:ext cx="1325880" cy="1325880"/>
          </a:xfrm>
          <a:prstGeom prst="roundRect">
            <a:avLst/>
          </a:prstGeom>
          <a:solidFill>
            <a:srgbClr val="EFF5FC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646"/>
                </a:solidFill>
              </a:defRPr>
            </a:pPr>
            <a:r>
              <a:t>4</a:t>
            </a:r>
            <a:br/>
            <a:r>
              <a:t>Verify &amp;</a:t>
            </a:r>
            <a:br/>
            <a:r>
              <a:t>link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76872" y="2057400"/>
            <a:ext cx="1325880" cy="1325880"/>
          </a:xfrm>
          <a:prstGeom prst="roundRect">
            <a:avLst/>
          </a:prstGeom>
          <a:solidFill>
            <a:srgbClr val="EFF5FC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646"/>
                </a:solidFill>
              </a:defRPr>
            </a:pPr>
            <a:r>
              <a:t>5</a:t>
            </a:r>
            <a:br/>
            <a:r>
              <a:t>Initialize</a:t>
            </a:r>
            <a:br/>
            <a:r>
              <a:t>classes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1080" y="2057400"/>
            <a:ext cx="1325880" cy="1325880"/>
          </a:xfrm>
          <a:prstGeom prst="roundRect">
            <a:avLst/>
          </a:prstGeom>
          <a:solidFill>
            <a:srgbClr val="EFF5FC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646"/>
                </a:solidFill>
              </a:defRPr>
            </a:pPr>
            <a:r>
              <a:t>6</a:t>
            </a:r>
            <a:br/>
            <a:r>
              <a:t>Execute</a:t>
            </a:r>
            <a:br/>
            <a:r>
              <a:t>Interpreter/JIT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05288" y="2057400"/>
            <a:ext cx="1325880" cy="1325880"/>
          </a:xfrm>
          <a:prstGeom prst="roundRect">
            <a:avLst/>
          </a:prstGeom>
          <a:solidFill>
            <a:srgbClr val="EFF5FC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646"/>
                </a:solidFill>
              </a:defRPr>
            </a:pPr>
            <a:r>
              <a:t>7</a:t>
            </a:r>
            <a:br/>
            <a:r>
              <a:t>Manage</a:t>
            </a:r>
            <a:br/>
            <a:r>
              <a:t>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</a:defRPr>
            </a:pPr>
            <a:r>
              <a:t>The JVM performs these stages as needed during program startup and execution; class loading is dynamic rather than a single one-time operation.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JVM Architecture | Java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6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t>JVM executes platform-independent Java bytecode.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t>Class Loader loads and prepares classes.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t>Runtime Data Areas provide memory for classes, objects and threads.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t>Execution Engine uses interpretation and JIT compilation.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t>Garbage Collection automatically reclaims unused objects.</a:t>
            </a:r>
          </a:p>
          <a:p>
            <a:pPr>
              <a:spcAft>
                <a:spcPts val="1200"/>
              </a:spcAft>
              <a:defRPr sz="2000">
                <a:solidFill>
                  <a:srgbClr val="232A32"/>
                </a:solidFill>
              </a:defRPr>
            </a:pPr>
            <a:r>
              <a:t>JNI and native libraries allow interaction with platform-specific code.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JVM Architecture | Java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527</Words>
  <Application>Microsoft Office PowerPoint</Application>
  <PresentationFormat>Widescreen</PresentationFormat>
  <Paragraphs>80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2026-08-27T06:48:38Z</dcterms:modified>
  <cp:category/>
</cp:coreProperties>
</file>