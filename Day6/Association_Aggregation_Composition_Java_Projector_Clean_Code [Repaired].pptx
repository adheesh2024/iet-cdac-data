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39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7536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65274" y="1764792"/>
            <a:ext cx="2722412" cy="674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>
                <a:solidFill>
                  <a:schemeClr val="bg1"/>
                </a:solidFill>
              </a:rPr>
              <a:t>1. Association, Aggregation</a:t>
            </a:r>
            <a:r>
              <a:rPr>
                <a:solidFill>
                  <a:schemeClr val="bg1"/>
                </a:solidFill>
              </a:rPr>
              <a:t/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and Composition in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9962" y="3794760"/>
            <a:ext cx="7701596" cy="557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 dirty="0">
                <a:solidFill>
                  <a:schemeClr val="bg1"/>
                </a:solidFill>
              </a:rPr>
              <a:t>1. Understanding Relationships Between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Why class relationships matter in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Object-oriented programs model relationships between classes and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Association, aggregation, and composition describe how objects interact and depend on one another.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These relationships help model real-world applications.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They define levels of dependency and ownership between classes.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Understanding them improves software design, maintainability, and code reusability.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3474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sz="3600"/>
              <a:t>START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A general relationship between independent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Association is a relationship between two independent classes where one object uses or interacts with another object.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Both objects can exist independently of each other.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Represents a Uses-A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Objects are loosely coupled.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Both classes can exist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3474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sz="3600"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411480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rPr sz="3600"/>
              <a:t>1. ASSOCIATION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Types of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Unidirectional Association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2. One class knows about another, but not vice versa.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3. Example: A Student has a LibraryCard, but the LibraryCard does not know about the Student.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Bidirectional Association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5. Both classes know about and interact with each other.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6. Example: A Teacher is assigned to a Classroom, and the Classroom knows its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Association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Bank and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Bank and Employee are two separate classes.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Employee objects are created independently.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Those Employee objects are placed in a collection and associated with a Bank object.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Bank can have many employees, so this is a one-to-many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The objects remain independently usable.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Association with weak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Aggregation is a special form of Association that represents a Has-A relationship with weak ownership.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It is a weak association.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The contained (child) object can exist independently of the container (parent) object.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Aggregation expresses a whole-part relationship without controlling the complete lifecycle of the parts.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Example idea: an Institute has Departments, and Departments have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3474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sz="3600"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411480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rPr sz="3600"/>
              <a:t>1. AGGREGATION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Aggregation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Institute → Department →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Student objects are created independently.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Department keeps references to a list of Student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Institute keeps references to a list of Department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Deleting the Institute or Department does not conceptually require the Student objects to cease existing.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It represents a Has-A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6. GeeksforGeeks notes that code reuse is best achieved by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Aggregation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There is an Institute with departments such as CSE and EE.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Each Department has a number of Students.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The Institute class contains references to Department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The Department class contains references to Student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Therefore, the Institute is associated with Departments, and Departments are associated with Students through object references.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6. All these relationships represent Has-A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A strong form of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Composition is a strong form of Aggregation that represents a Part-Of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Strong ownership exists between the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The lifecycle of the contained object depends completely on the container object.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Child objects cannot exist independently of the parent object.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Composition is useful when the part is an integral component of the whole.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34747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sz="3600"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411480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rPr sz="3600"/>
              <a:t>1. 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Composition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2D69B4"/>
                </a:solidFill>
              </a:rPr>
              <a:t>House and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A House contains Rooms.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The House creates and manages its collection of Room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Rooms are treated as parts of the House.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If the House is destroyed, its Rooms are also considered destroyed.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This demonstrates a complete composition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6. The lifecycle of a Room completely depends on the 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Composition — Java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830"/>
                </a:solidFill>
                <a:latin typeface="Consolas"/>
              </a:defRPr>
            </a:pPr>
            <a:r>
              <a:rPr sz="3000"/>
              <a:t>1. House house = new House("Dream House");</a:t>
            </a:r>
            <a:r>
              <a:t/>
            </a:r>
            <a:br/>
            <a:r>
              <a:t/>
            </a:r>
            <a:br/>
            <a:r>
              <a:rPr sz="3000"/>
              <a:t>house.addRoom(new Room("Living Room"));</a:t>
            </a:r>
            <a:r>
              <a:t/>
            </a:r>
            <a:br/>
            <a:r>
              <a:rPr sz="3000"/>
              <a:t>house.addRoom(new Room("Bedroom"));</a:t>
            </a:r>
            <a:r>
              <a:t/>
            </a:r>
            <a:br/>
            <a:r>
              <a:rPr sz="3000"/>
              <a:t>house.addRoom(new Room("Kitchen"));</a:t>
            </a:r>
            <a:r>
              <a:t/>
            </a:r>
            <a:br/>
            <a:r>
              <a:rPr sz="3000"/>
              <a:t>house.addRoom(new Room("Bathroom"));</a:t>
            </a:r>
            <a:r>
              <a:t/>
            </a:r>
            <a:br/>
            <a:r>
              <a:t/>
            </a:r>
            <a:br/>
            <a:r>
              <a:rPr sz="3000"/>
              <a:t>System.out.println("Total Rooms: "</a:t>
            </a:r>
            <a:r>
              <a:t/>
            </a:r>
            <a:br/>
            <a:r>
              <a:rPr sz="3000"/>
              <a:t>    + house.getTotalRooms());</a:t>
            </a:r>
            <a:r>
              <a:t/>
            </a:r>
            <a:br/>
            <a:r>
              <a:t/>
            </a:r>
            <a:br/>
            <a:r>
              <a:rPr sz="3000"/>
              <a:t>for (Room room : house.getRooms()) {</a:t>
            </a:r>
            <a:r>
              <a:t/>
            </a:r>
            <a:br/>
            <a:r>
              <a:rPr sz="3000"/>
              <a:t>    System.out.println("- " + room.getRoomName());</a:t>
            </a:r>
            <a:r>
              <a:t/>
            </a:r>
            <a:br/>
            <a:r>
              <a:rPr sz="300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232830"/>
                </a:solidFill>
              </a:defRPr>
            </a:pPr>
            <a:r>
              <a:rPr sz="3000"/>
              <a:t>1. Output: Total Rooms: 4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232830"/>
                </a:solidFill>
              </a:defRPr>
            </a:pPr>
            <a:r>
              <a:rPr sz="3000"/>
              <a:t>2. Living Room • Bedroom • Kitchen • Bathroom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Association vs Aggregation vs Composition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54680"/>
                <a:gridCol w="3154680"/>
                <a:gridCol w="3200400"/>
              </a:tblGrid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Aggregation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Composition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General relationship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Has-A, weak ownership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Part-Of, strong ownership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Part can exist independently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Part depends on whole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Lifecycle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Dependent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None implied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Shared / 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Exclusive / 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Cardinality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1:1, 1:M, M:1, M:M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1:1, 1:M, M:1, M:M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1:1, 1:M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Teacher–Student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Library–Books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830"/>
                          </a:solidFill>
                        </a:defRPr>
                      </a:pPr>
                      <a:r>
                        <a:t>Car–Engine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Relationship Strength — Easy Way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91840" cy="2560320"/>
          </a:xfrm>
          <a:prstGeom prst="roundRect">
            <a:avLst/>
          </a:prstGeom>
          <a:solidFill>
            <a:srgbClr val="F0F5FC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1. ASSOCIATION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2. Uses-A</a:t>
            </a:r>
            <a:r>
              <a:t/>
            </a:r>
            <a:br/>
            <a:r>
              <a:rPr sz="3000"/>
              <a:t>Independent objects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91840" cy="2560320"/>
          </a:xfrm>
          <a:prstGeom prst="roundRect">
            <a:avLst/>
          </a:prstGeom>
          <a:solidFill>
            <a:srgbClr val="F0F5FC"/>
          </a:solidFill>
          <a:ln>
            <a:solidFill>
              <a:srgbClr val="3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1. AGGREGATION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2. Has-A</a:t>
            </a:r>
            <a:r>
              <a:t/>
            </a:r>
            <a:br/>
            <a:r>
              <a:rPr sz="3000"/>
              <a:t>Weak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291840" cy="2560320"/>
          </a:xfrm>
          <a:prstGeom prst="roundRect">
            <a:avLst/>
          </a:prstGeom>
          <a:solidFill>
            <a:srgbClr val="F0F5FC"/>
          </a:solidFill>
          <a:ln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19" y="2148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1. COMPOSITION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000"/>
              <a:t>2. Part-Of</a:t>
            </a:r>
            <a:r>
              <a:t/>
            </a:r>
            <a:br/>
            <a:r>
              <a:rPr sz="3000"/>
              <a:t>Strong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1. Think: Uses → Has → Part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rPr sz="3000"/>
              <a:t>2. Dependency and ownership increase from Association to Aggregation to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1. Association: two independent classes interact or use one another.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2. Aggregation: a weak Has-A relationship; contained objects can exist independently.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3. Composition: a strong Part-Of relationship; contained objects depend on the parent lifecycle.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4. Choose the relationship that accurately represents dependency and ownership in the real-world model.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32830"/>
                </a:solidFill>
              </a:defRPr>
            </a:pPr>
            <a:r>
              <a:rPr sz="3000"/>
              <a:t>5. These relationships help create maintainable and reusable object-oriented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1000"/>
              </a:spcAft>
            </a:pPr>
            <a:r>
              <a:rPr sz="3000"/>
              <a:t>1. 16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3474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sz="3600"/>
              <a:t>END / TAKEAWAY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Aggregation — Java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2D69B4"/>
                </a:solidFill>
              </a:rPr>
              <a:t>Part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35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232830"/>
                </a:solidFill>
                <a:latin typeface="Consolas"/>
              </a:rPr>
              <a:t>Student s1 = new Student("Parul", 1);
Student s2 = new Student("Sachin", 2);
List&lt;Student&gt; cse_students = new ArrayList&lt;&gt;();
cse_students.add(s1);
cse_students.add(s2);
Department CSE =
    new Department("CSE", cse_students);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080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>
                <a:solidFill>
                  <a:srgbClr val="2D69B4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33C"/>
                </a:solidFill>
              </a:rPr>
              <a:t>Aggregation — Java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2D69B4"/>
                </a:solidFill>
              </a:rPr>
              <a:t>Part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35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232830"/>
                </a:solidFill>
                <a:latin typeface="Consolas"/>
              </a:rPr>
              <a:t>List&lt;Department&gt; departments = new ArrayList&lt;&gt;();
departments.add(CSE);
Institute institute =
    new Institute("BITS", departments);
System.out.println(
    "Total students in institute: 4");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080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>
                <a:solidFill>
                  <a:srgbClr val="2D69B4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980</Words>
  <Application>Microsoft Office PowerPoint</Application>
  <PresentationFormat>Widescreen</PresentationFormat>
  <Paragraphs>149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2026-08-29T01:40:04Z</dcterms:modified>
  <cp:category/>
</cp:coreProperties>
</file>